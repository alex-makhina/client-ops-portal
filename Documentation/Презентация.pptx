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99" r:id="rId9"/>
    <p:sldId id="261" r:id="rId10"/>
    <p:sldId id="310" r:id="rId11"/>
    <p:sldId id="300" r:id="rId12"/>
    <p:sldId id="302" r:id="rId13"/>
    <p:sldId id="311" r:id="rId14"/>
    <p:sldId id="318" r:id="rId15"/>
    <p:sldId id="312" r:id="rId16"/>
    <p:sldId id="313" r:id="rId17"/>
    <p:sldId id="314" r:id="rId18"/>
    <p:sldId id="319" r:id="rId19"/>
    <p:sldId id="315" r:id="rId20"/>
    <p:sldId id="316" r:id="rId21"/>
    <p:sldId id="323" r:id="rId22"/>
    <p:sldId id="317" r:id="rId23"/>
    <p:sldId id="320" r:id="rId24"/>
    <p:sldId id="321" r:id="rId25"/>
    <p:sldId id="322" r:id="rId26"/>
    <p:sldId id="264" r:id="rId27"/>
    <p:sldId id="265" r:id="rId28"/>
    <p:sldId id="266" r:id="rId2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Medium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299A"/>
    <a:srgbClr val="594E87"/>
    <a:srgbClr val="6A59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0AC4E8-839C-45C5-8BE5-4AC301C7866A}">
  <a:tblStyle styleId="{FE0AC4E8-839C-45C5-8BE5-4AC301C786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78" y="8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6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0087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04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254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817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467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162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9455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893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620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904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624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9273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554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5090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83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168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179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{FE0AC4E8-839C-45C5-8BE5-4AC301C7866A}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{FE0AC4E8-839C-45C5-8BE5-4AC301C7866A}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Client Ops Portal</a:t>
            </a:r>
            <a:endParaRPr lang="ru-RU"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629700" y="4127375"/>
            <a:ext cx="2920500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OTUS C# ASP.NET Core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 dirty="0"/>
              <a:t>Тема: </a:t>
            </a:r>
            <a:r>
              <a:rPr lang="en-US" sz="2800" dirty="0"/>
              <a:t>Client Ops Portal (CRM &amp; Service Provisioning System)</a:t>
            </a:r>
            <a:br>
              <a:rPr lang="en-US" sz="3000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Огурцова Александра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Место работы: Белтелеком.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8C515B-B72D-4271-9EE8-D9099627D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6" y="2023495"/>
            <a:ext cx="2430938" cy="2430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03450"/>
            <a:ext cx="8520600" cy="73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 dirty="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1386558879"/>
              </p:ext>
            </p:extLst>
          </p:nvPr>
        </p:nvGraphicFramePr>
        <p:xfrm>
          <a:off x="560499" y="2328863"/>
          <a:ext cx="7840549" cy="2150722"/>
        </p:xfrm>
        <a:graphic>
          <a:graphicData uri="http://schemas.openxmlformats.org/drawingml/2006/table">
            <a:tbl>
              <a:tblPr>
                <a:noFill/>
                <a:tableStyleId>{FE0AC4E8-839C-45C5-8BE5-4AC301C7866A}</a:tableStyleId>
              </a:tblPr>
              <a:tblGrid>
                <a:gridCol w="530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0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594E8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Спроектировать и реализовать </a:t>
                      </a:r>
                      <a:r>
                        <a:rPr lang="ru-RU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микросервисную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архитектуру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Организовать оптимальное хранение данных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асинхронную и синхронную связь между сервисами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Автоматизировать сборку, тесты и деплой (CI/CD)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560499" y="1116975"/>
            <a:ext cx="784055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создание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CRM-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системы для ведения подписок на телекоммуникационные услуги.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" name="Google Shape;185;p39">
            <a:extLst>
              <a:ext uri="{FF2B5EF4-FFF2-40B4-BE49-F238E27FC236}">
                <a16:creationId xmlns:a16="http://schemas.microsoft.com/office/drawing/2014/main" id="{007CC841-C8F4-4FA0-A63F-DACD4758EAD2}"/>
              </a:ext>
            </a:extLst>
          </p:cNvPr>
          <p:cNvSpPr txBox="1"/>
          <p:nvPr/>
        </p:nvSpPr>
        <p:spPr>
          <a:xfrm>
            <a:off x="560499" y="1927462"/>
            <a:ext cx="8520600" cy="479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594E87"/>
                </a:solidFill>
                <a:latin typeface="Roboto"/>
                <a:ea typeface="Roboto"/>
                <a:cs typeface="Roboto"/>
                <a:sym typeface="Roboto"/>
              </a:rPr>
              <a:t>Задачи проекта:</a:t>
            </a:r>
            <a:endParaRPr sz="1600" b="1" dirty="0">
              <a:solidFill>
                <a:srgbClr val="594E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>
            <a:spLocks noGrp="1"/>
          </p:cNvSpPr>
          <p:nvPr>
            <p:ph type="title"/>
          </p:nvPr>
        </p:nvSpPr>
        <p:spPr>
          <a:xfrm>
            <a:off x="611950" y="32650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планировалось</a:t>
            </a:r>
            <a:endParaRPr dirty="0"/>
          </a:p>
        </p:txBody>
      </p:sp>
      <p:sp>
        <p:nvSpPr>
          <p:cNvPr id="417" name="Google Shape;417;p60"/>
          <p:cNvSpPr txBox="1">
            <a:spLocks noGrp="1"/>
          </p:cNvSpPr>
          <p:nvPr>
            <p:ph type="title"/>
          </p:nvPr>
        </p:nvSpPr>
        <p:spPr>
          <a:xfrm>
            <a:off x="611949" y="1132600"/>
            <a:ext cx="7639082" cy="41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dirty="0">
                <a:solidFill>
                  <a:srgbClr val="333333"/>
                </a:solidFill>
                <a:highlight>
                  <a:srgbClr val="FFFFFF"/>
                </a:highlight>
              </a:rPr>
              <a:t>Для визуализации функционала </a:t>
            </a:r>
            <a:r>
              <a:rPr lang="en-US" sz="1300" b="0" dirty="0">
                <a:solidFill>
                  <a:srgbClr val="333333"/>
                </a:solidFill>
                <a:highlight>
                  <a:srgbClr val="FFFFFF"/>
                </a:highlight>
              </a:rPr>
              <a:t>CRM-</a:t>
            </a:r>
            <a:r>
              <a:rPr lang="ru-RU" sz="1300" b="0" dirty="0">
                <a:solidFill>
                  <a:srgbClr val="333333"/>
                </a:solidFill>
                <a:highlight>
                  <a:srgbClr val="FFFFFF"/>
                </a:highlight>
              </a:rPr>
              <a:t>системы был разработан прототип</a:t>
            </a:r>
            <a:endParaRPr sz="1300" b="0" dirty="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18" name="Google Shape;418;p60"/>
          <p:cNvSpPr txBox="1"/>
          <p:nvPr/>
        </p:nvSpPr>
        <p:spPr>
          <a:xfrm>
            <a:off x="611947" y="1547299"/>
            <a:ext cx="7639081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100" dirty="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013D8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рототип: </a:t>
            </a:r>
            <a:r>
              <a:rPr kumimoji="0" lang="en-US" sz="1100" b="0" i="0" u="sng" strike="noStrike" kern="0" cap="none" spc="0" normalizeH="0" baseline="0" noProof="0" dirty="0">
                <a:ln>
                  <a:noFill/>
                </a:ln>
                <a:solidFill>
                  <a:srgbClr val="0097A7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https://raw.githack.com/alex-makhina/client-ops-portal/CreatePrototype/Documentation/Prototype.html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13D85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418;p60">
            <a:extLst>
              <a:ext uri="{FF2B5EF4-FFF2-40B4-BE49-F238E27FC236}">
                <a16:creationId xmlns:a16="http://schemas.microsoft.com/office/drawing/2014/main" id="{A38690A7-7D21-434D-B5B8-713860E02D7E}"/>
              </a:ext>
            </a:extLst>
          </p:cNvPr>
          <p:cNvSpPr txBox="1"/>
          <p:nvPr/>
        </p:nvSpPr>
        <p:spPr>
          <a:xfrm>
            <a:off x="611946" y="2106409"/>
            <a:ext cx="7639081" cy="238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013D8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Первоначальная схема БД: </a:t>
            </a:r>
            <a:r>
              <a:rPr kumimoji="0" lang="en-US" sz="1100" b="0" i="0" u="sng" strike="noStrike" kern="0" cap="none" spc="0" normalizeH="0" baseline="0" noProof="0" dirty="0">
                <a:ln>
                  <a:noFill/>
                </a:ln>
                <a:solidFill>
                  <a:srgbClr val="0097A7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https://mermaid.live/edit#pako:eNrVVkuP2jAQ_iuWpb2xCLo8ltxYHiqiXaGye6m4mHgSrCZ2ZDvVUuC_13kSSKJlS9ttcwDbM9_M-POMxztsCwrYwiDHjLiS-CuOzPesQO6SYfS5IaNoRtFiflxTWjLuosmLBsmJN6OJ6JD8Jb_DteDANXrFVLoWOUXTsosZNTaYw2yimeCPob82eiWtKZNKPxIfSpJPpEbwmVHqQaVoaNsi5DpxdpRSokEzH9BIghnSoS4hU8nDtgL1HNAaVCrJUIbFZDASXEtiv0ph5jxVP487hWTnMZ3nR3QS3wO4jI_NrEI24bRG8re4WIL8zmy4kIrKYx2DsiULojz677b_RCRznIVH-O9nAGzmEw8tpOG3ZDvjvViab-fseIzhOg_hwpshr4Lp_KLoUlGBsetif590L_D0kSkt5PZCuk4YLu4ceOibqy1af9oGcCZYaqJD9WYWDUzqf4-rpYbgF_jKmC7Rds5O1kNAKeJetfd8FxM_8MQW4Mp-aSJ1nPMO8Ee65EIoXXHDBCYhfNNn3jEhbm7QF_DiB4PasECdvkf2-9tbsTs2Vwut8IaoFT5tNKnaSTlFqozXaBZK5cxk7qrOpm0UCOM5oGCqDkLBYRyOURflFZgssyNoFMu3SmSmVW8gLqw0ZGWWFBLOZVEXI5DggFRIiwwaZ3ME2ov8nGKy1ZkGilXyWsl0cAO7klFsaRlCA_sgfRJNcVxMZssbMBmMU-JI6OnI7sHAAsK_CuFnSClCd4Mth3jKzMI4wdLHca4CnIIcRS9EbLU_xCawtcMv2Lprd5q9_n271et1e4N-v9Vp4K1Z7jQ7d_1uuz_otbrdXndwaOAfsdNW877fPfwEShWQ4A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13D85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525232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747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Используемые технологии</a:t>
            </a:r>
            <a:endParaRPr sz="3000" dirty="0">
              <a:solidFill>
                <a:srgbClr val="3F299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3404181782"/>
              </p:ext>
            </p:extLst>
          </p:nvPr>
        </p:nvGraphicFramePr>
        <p:xfrm>
          <a:off x="500550" y="1219118"/>
          <a:ext cx="7285063" cy="2133450"/>
        </p:xfrm>
        <a:graphic>
          <a:graphicData uri="http://schemas.openxmlformats.org/drawingml/2006/table">
            <a:tbl>
              <a:tblPr>
                <a:noFill/>
                <a:tableStyleId>{FE0AC4E8-839C-45C5-8BE5-4AC301C7866A}</a:tableStyleId>
              </a:tblPr>
              <a:tblGrid>
                <a:gridCol w="53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Микросервисная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архитектура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PostgreSQL, MongoDB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EF Core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Брокер сообщений: 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RabbitMQ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Фронтенд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lang="en-US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Blazor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React.js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Docker, GitHub Actions, Scalar, PostgreSQL </a:t>
                      </a:r>
                      <a:r>
                        <a:rPr lang="en-US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Adminer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Mongo Express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747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Продвинутые практики</a:t>
            </a:r>
            <a:endParaRPr sz="3000" dirty="0">
              <a:solidFill>
                <a:srgbClr val="3F299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4065791428"/>
              </p:ext>
            </p:extLst>
          </p:nvPr>
        </p:nvGraphicFramePr>
        <p:xfrm>
          <a:off x="500550" y="1219118"/>
          <a:ext cx="7285063" cy="2133450"/>
        </p:xfrm>
        <a:graphic>
          <a:graphicData uri="http://schemas.openxmlformats.org/drawingml/2006/table">
            <a:tbl>
              <a:tblPr>
                <a:noFill/>
                <a:tableStyleId>{FE0AC4E8-839C-45C5-8BE5-4AC301C7866A}</a:tableStyleId>
              </a:tblPr>
              <a:tblGrid>
                <a:gridCol w="53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Коммуникация: 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REST API, </a:t>
                      </a:r>
                      <a:r>
                        <a:rPr lang="en-US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gRPC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Нестандартный 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DI 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через </a:t>
                      </a:r>
                      <a:r>
                        <a:rPr lang="en-US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Autofac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Валидация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FluentValidation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Кастомный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Middleware 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обработки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Структурные </a:t>
                      </a:r>
                      <a:r>
                        <a:rPr lang="ru-RU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логи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и двухуровневый кэш –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spc="0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IMemoryCache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</a:t>
                      </a:r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Redis</a:t>
                      </a:r>
                      <a:endParaRPr lang="ru-RU" sz="14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9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solidFill>
                  <a:srgbClr val="3F299A"/>
                </a:solidFill>
              </a:rPr>
              <a:t>Схема проекта</a:t>
            </a:r>
            <a:endParaRPr dirty="0">
              <a:solidFill>
                <a:srgbClr val="3F299A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DA30B2-C373-4D63-88F1-0B0F72C4F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00" y="7144"/>
            <a:ext cx="808079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29718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3F299A"/>
                </a:solidFill>
              </a:rPr>
              <a:t>PostgreSQL, MongoDB, EF Core</a:t>
            </a: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555350"/>
            <a:ext cx="6066600" cy="14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Реляционные данные -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Документные данные -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MongoDB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Единая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ORM – Entity Framework Core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Database-per-service 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паттерн</a:t>
            </a: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6F8C8B8D-9C25-4B54-AAC8-25163DD8EB08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Базы данных и 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ORM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8359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Брокер сообщений </a:t>
            </a:r>
            <a:r>
              <a:rPr lang="en-US" sz="3000" dirty="0">
                <a:solidFill>
                  <a:srgbClr val="3F299A"/>
                </a:solidFill>
              </a:rPr>
              <a:t>RabbitMQ</a:t>
            </a: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58B094C6-9A4D-46B5-9CA0-0B446EF8DC73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Асинхронная коммуникация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65FD26-FBBA-42A7-99D8-F0162FBA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6" y="1653096"/>
            <a:ext cx="7676233" cy="291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72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Брокер сообщений </a:t>
            </a:r>
            <a:r>
              <a:rPr lang="en-US" sz="3000" dirty="0">
                <a:solidFill>
                  <a:srgbClr val="3F299A"/>
                </a:solidFill>
              </a:rPr>
              <a:t>RabbitMQ</a:t>
            </a: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653096"/>
            <a:ext cx="6066600" cy="220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Брокер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RabbitMQ 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Docker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Паттерн: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Publisher/Subscriber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События: создание клиента, отчёт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Гарантия доставки: 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durable queues.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Отвязка сервисов друг от друга.</a:t>
            </a:r>
            <a:endParaRPr lang="ru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58B094C6-9A4D-46B5-9CA0-0B446EF8DC73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Асинхронная коммуникация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525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 err="1">
                <a:solidFill>
                  <a:srgbClr val="3F299A"/>
                </a:solidFill>
              </a:rPr>
              <a:t>Фронтенд</a:t>
            </a:r>
            <a:r>
              <a:rPr lang="ru-RU" sz="3000" dirty="0">
                <a:solidFill>
                  <a:srgbClr val="3F299A"/>
                </a:solidFill>
              </a:rPr>
              <a:t>: </a:t>
            </a:r>
            <a:r>
              <a:rPr lang="en-US" sz="3000" dirty="0" err="1">
                <a:solidFill>
                  <a:srgbClr val="3F299A"/>
                </a:solidFill>
              </a:rPr>
              <a:t>Blazor</a:t>
            </a:r>
            <a:r>
              <a:rPr lang="en-US" sz="3000" dirty="0">
                <a:solidFill>
                  <a:srgbClr val="3F299A"/>
                </a:solidFill>
              </a:rPr>
              <a:t>, React.js</a:t>
            </a:r>
          </a:p>
        </p:txBody>
      </p:sp>
      <p:graphicFrame>
        <p:nvGraphicFramePr>
          <p:cNvPr id="4" name="Google Shape;603;p75">
            <a:extLst>
              <a:ext uri="{FF2B5EF4-FFF2-40B4-BE49-F238E27FC236}">
                <a16:creationId xmlns:a16="http://schemas.microsoft.com/office/drawing/2014/main" id="{25981B22-8602-4821-8715-981A09268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498293"/>
              </p:ext>
            </p:extLst>
          </p:nvPr>
        </p:nvGraphicFramePr>
        <p:xfrm>
          <a:off x="654862" y="1845831"/>
          <a:ext cx="7834275" cy="1967075"/>
        </p:xfrm>
        <a:graphic>
          <a:graphicData uri="http://schemas.openxmlformats.org/drawingml/2006/table">
            <a:tbl>
              <a:tblPr>
                <a:noFill/>
                <a:tableStyleId>{FE0AC4E8-839C-45C5-8BE5-4AC301C7866A}</a:tableStyleId>
              </a:tblPr>
              <a:tblGrid>
                <a:gridCol w="226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Параметр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 Portal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Personal </a:t>
                      </a:r>
                      <a:r>
                        <a:rPr lang="en-US" sz="1600" b="1" dirty="0" err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Accaunt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Технология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Blazor</a:t>
                      </a:r>
                      <a:r>
                        <a:rPr lang="en-US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WebAssembly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React.js + </a:t>
                      </a:r>
                      <a:r>
                        <a:rPr lang="en-US" sz="13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Vite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Аудитория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Менеджеры компании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Абоненты (клиенты)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Функции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CRM,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отчёты, справочники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История подписок, профиль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Google Shape;395;p57">
            <a:extLst>
              <a:ext uri="{FF2B5EF4-FFF2-40B4-BE49-F238E27FC236}">
                <a16:creationId xmlns:a16="http://schemas.microsoft.com/office/drawing/2014/main" id="{65BBA921-A26B-4C3D-B06C-FCBC86BFB551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Два </a:t>
            </a:r>
            <a:r>
              <a:rPr lang="ru-RU" sz="16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фронтенд</a:t>
            </a:r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-приложения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34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3F299A"/>
                </a:solidFill>
              </a:rPr>
              <a:t>DevOps-</a:t>
            </a:r>
            <a:r>
              <a:rPr lang="ru-RU" sz="3000" dirty="0">
                <a:solidFill>
                  <a:srgbClr val="3F299A"/>
                </a:solidFill>
              </a:rPr>
              <a:t>инструменты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653096"/>
            <a:ext cx="6066600" cy="1847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Docker – 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контейнеризация всех сервисов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GitHub Actions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Scalar – 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современная документация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 err="1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Adminer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веб-интерфейс для 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PostgreSQL</a:t>
            </a: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lang="en-US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Mongo Express – UI 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для 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MongoDB.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8E0EC0AA-97C5-420C-97CC-2BC45D4D9613}"/>
              </a:ext>
            </a:extLst>
          </p:cNvPr>
          <p:cNvSpPr txBox="1">
            <a:spLocks/>
          </p:cNvSpPr>
          <p:nvPr/>
        </p:nvSpPr>
        <p:spPr>
          <a:xfrm>
            <a:off x="638800" y="1012839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Инфраструктура и 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CI/CD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2745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Коммуникация: </a:t>
            </a:r>
            <a:r>
              <a:rPr lang="en-US" sz="3000" dirty="0">
                <a:solidFill>
                  <a:srgbClr val="3F299A"/>
                </a:solidFill>
              </a:rPr>
              <a:t>REST API, </a:t>
            </a:r>
            <a:r>
              <a:rPr lang="en-US" sz="3000" dirty="0" err="1">
                <a:solidFill>
                  <a:srgbClr val="3F299A"/>
                </a:solidFill>
              </a:rPr>
              <a:t>gRPC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667E093B-E209-4D14-80A3-D5CEFCF2F7E2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Протоколы взаимодействия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85AFAC-8EEA-4DF5-8302-EA113A9E5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203"/>
          <a:stretch/>
        </p:blipFill>
        <p:spPr>
          <a:xfrm>
            <a:off x="478630" y="1593803"/>
            <a:ext cx="8311645" cy="212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19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Коммуникация: </a:t>
            </a:r>
            <a:r>
              <a:rPr lang="en-US" sz="3000" dirty="0">
                <a:solidFill>
                  <a:srgbClr val="3F299A"/>
                </a:solidFill>
              </a:rPr>
              <a:t>REST API, </a:t>
            </a:r>
            <a:r>
              <a:rPr lang="en-US" sz="3000" dirty="0" err="1">
                <a:solidFill>
                  <a:srgbClr val="3F299A"/>
                </a:solidFill>
              </a:rPr>
              <a:t>gRPC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653096"/>
            <a:ext cx="6066600" cy="14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REST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– для клиентов через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Gateway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gRPC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– между внутренними сервисами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Protobuf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для компактных сообщений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Сильная типизация контрактов</a:t>
            </a: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lang="en-US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667E093B-E209-4D14-80A3-D5CEFCF2F7E2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Протоколы взаимодействия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6699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Нестандартный </a:t>
            </a:r>
            <a:r>
              <a:rPr lang="en-US" sz="3000" dirty="0">
                <a:solidFill>
                  <a:srgbClr val="3F299A"/>
                </a:solidFill>
              </a:rPr>
              <a:t>DI </a:t>
            </a:r>
            <a:r>
              <a:rPr lang="ru-RU" sz="3000" dirty="0">
                <a:solidFill>
                  <a:srgbClr val="3F299A"/>
                </a:solidFill>
              </a:rPr>
              <a:t>через </a:t>
            </a:r>
            <a:r>
              <a:rPr lang="en-US" sz="3000" dirty="0" err="1">
                <a:solidFill>
                  <a:srgbClr val="3F299A"/>
                </a:solidFill>
              </a:rPr>
              <a:t>Autofac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653096"/>
            <a:ext cx="6066600" cy="14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Замена стандартного контейнера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Паттерн Декоратор для </a:t>
            </a:r>
            <a:r>
              <a:rPr lang="en-US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ReportService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Упрощена регистрация </a:t>
            </a:r>
            <a:r>
              <a:rPr lang="en-US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MassTransit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Гибкость без изменения кода</a:t>
            </a: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lang="en-US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667E093B-E209-4D14-80A3-D5CEFCF2F7E2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Autofac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+ Decorator Pattern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2440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Валидация: </a:t>
            </a:r>
            <a:r>
              <a:rPr lang="en-US" sz="3000" dirty="0" err="1">
                <a:solidFill>
                  <a:srgbClr val="3F299A"/>
                </a:solidFill>
              </a:rPr>
              <a:t>FluentValidation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653096"/>
            <a:ext cx="6066600" cy="113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Отделена от бизнес-логики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Легко покрывается тестами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Читаемы правила валидации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n-US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667E093B-E209-4D14-80A3-D5CEFCF2F7E2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Валидация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4485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 err="1">
                <a:solidFill>
                  <a:srgbClr val="3F299A"/>
                </a:solidFill>
              </a:rPr>
              <a:t>Кастомный</a:t>
            </a:r>
            <a:r>
              <a:rPr lang="ru-RU" sz="3000" dirty="0">
                <a:solidFill>
                  <a:srgbClr val="3F299A"/>
                </a:solidFill>
              </a:rPr>
              <a:t> </a:t>
            </a:r>
            <a:r>
              <a:rPr lang="en-US" sz="3000" dirty="0">
                <a:solidFill>
                  <a:srgbClr val="3F299A"/>
                </a:solidFill>
              </a:rPr>
              <a:t>Middleware </a:t>
            </a:r>
            <a:r>
              <a:rPr lang="ru-RU" sz="3000" dirty="0">
                <a:solidFill>
                  <a:srgbClr val="3F299A"/>
                </a:solidFill>
              </a:rPr>
              <a:t>обработки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253046"/>
            <a:ext cx="6066600" cy="14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Глобальная обработка исключений и ошибок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Добавление </a:t>
            </a:r>
            <a:r>
              <a:rPr lang="ru-RU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CorrelationId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к каждому запросу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Логирование 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входящих запросов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Стандартизация ответов </a:t>
            </a:r>
            <a:r>
              <a:rPr lang="en-US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API</a:t>
            </a: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lang="en-US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67372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Структурные </a:t>
            </a:r>
            <a:r>
              <a:rPr lang="ru-RU" sz="3000" dirty="0" err="1">
                <a:solidFill>
                  <a:srgbClr val="3F299A"/>
                </a:solidFill>
              </a:rPr>
              <a:t>логи</a:t>
            </a:r>
            <a:r>
              <a:rPr lang="ru-RU" sz="3000" dirty="0">
                <a:solidFill>
                  <a:srgbClr val="3F299A"/>
                </a:solidFill>
              </a:rPr>
              <a:t> и двухуровневый кэш 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667E093B-E209-4D14-80A3-D5CEFCF2F7E2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IMemoryCache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и 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Redis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65DAC2-31C3-45EB-BF12-2A01C1A24D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81" t="19430" r="9435" b="13578"/>
          <a:stretch/>
        </p:blipFill>
        <p:spPr>
          <a:xfrm>
            <a:off x="1125497" y="1422264"/>
            <a:ext cx="7066781" cy="34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22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Структурные </a:t>
            </a:r>
            <a:r>
              <a:rPr lang="ru-RU" sz="3000" dirty="0" err="1">
                <a:solidFill>
                  <a:srgbClr val="3F299A"/>
                </a:solidFill>
              </a:rPr>
              <a:t>логи</a:t>
            </a:r>
            <a:r>
              <a:rPr lang="ru-RU" sz="3000" dirty="0">
                <a:solidFill>
                  <a:srgbClr val="3F299A"/>
                </a:solidFill>
              </a:rPr>
              <a:t> и двухуровневый кэш 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653096"/>
            <a:ext cx="6066600" cy="14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L1: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IMemoryCache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– быстрый </a:t>
            </a: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in-progress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L2: Redis – 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распределенный между сервисами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Serilog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с обогащением контекста</a:t>
            </a:r>
            <a:r>
              <a:rPr lang="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en-US" sz="1300" dirty="0" err="1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CorrelationId</a:t>
            </a:r>
            <a:r>
              <a:rPr lang="ru-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для трассировки</a:t>
            </a:r>
            <a:r>
              <a:rPr lang="ru" sz="1300" dirty="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lang="en-US" sz="1300" dirty="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395;p57">
            <a:extLst>
              <a:ext uri="{FF2B5EF4-FFF2-40B4-BE49-F238E27FC236}">
                <a16:creationId xmlns:a16="http://schemas.microsoft.com/office/drawing/2014/main" id="{667E093B-E209-4D14-80A3-D5CEFCF2F7E2}"/>
              </a:ext>
            </a:extLst>
          </p:cNvPr>
          <p:cNvSpPr txBox="1">
            <a:spLocks/>
          </p:cNvSpPr>
          <p:nvPr/>
        </p:nvSpPr>
        <p:spPr>
          <a:xfrm>
            <a:off x="638800" y="991407"/>
            <a:ext cx="82143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16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IMemoryCache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и 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Redis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8508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Демонстрация проекта</a:t>
            </a:r>
            <a:endParaRPr lang="en-US" sz="3000" dirty="0">
              <a:solidFill>
                <a:srgbClr val="3F29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36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638800" y="351150"/>
            <a:ext cx="8214300" cy="661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3F299A"/>
                </a:solidFill>
              </a:rPr>
              <a:t>Выводы</a:t>
            </a:r>
            <a:endParaRPr lang="en-US" sz="3000" dirty="0">
              <a:solidFill>
                <a:srgbClr val="3F299A"/>
              </a:solidFill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638800" y="1245903"/>
            <a:ext cx="6066600" cy="21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Цель достигнута</a:t>
            </a:r>
            <a:b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Создана рабочая </a:t>
            </a:r>
            <a:r>
              <a:rPr lang="ru-RU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микросервисная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система из 6 сервисов, настроен CI/CD через </a:t>
            </a:r>
            <a:r>
              <a:rPr lang="ru-RU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GitHub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3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Actions</a:t>
            </a:r>
            <a:r>
              <a:rPr lang="ru-RU" sz="13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-RU" sz="1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Ключевые результаты</a:t>
            </a:r>
            <a:br>
              <a:rPr lang="ru-RU" sz="1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Главное достижение — разнообразие коммуникаций: REST для внешних клиентов, </a:t>
            </a:r>
            <a:r>
              <a:rPr lang="ru-RU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gRPC</a:t>
            </a: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для внутренних вызовов, </a:t>
            </a:r>
            <a:r>
              <a:rPr lang="ru-RU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RabbitMQ</a:t>
            </a: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для асинхронных событий. Плюс двухуровневый кэш и структурное логирование с </a:t>
            </a:r>
            <a:r>
              <a:rPr lang="ru-RU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CorrelationId</a:t>
            </a:r>
            <a:r>
              <a:rPr lang="ru-RU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для наблюдаемости</a:t>
            </a:r>
          </a:p>
        </p:txBody>
      </p:sp>
    </p:spTree>
    <p:extLst>
      <p:ext uri="{BB962C8B-B14F-4D97-AF65-F5344CB8AC3E}">
        <p14:creationId xmlns:p14="http://schemas.microsoft.com/office/powerpoint/2010/main" val="3047609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641</Words>
  <Application>Microsoft Office PowerPoint</Application>
  <PresentationFormat>Экран (16:9)</PresentationFormat>
  <Paragraphs>130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Courier New</vt:lpstr>
      <vt:lpstr>Roboto Medium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Client Ops Portal (CRM &amp; Service Provisioning System)   </vt:lpstr>
      <vt:lpstr>План защиты</vt:lpstr>
      <vt:lpstr>Презентация PowerPoint</vt:lpstr>
      <vt:lpstr>Что планировалось</vt:lpstr>
      <vt:lpstr>Используемые технологии </vt:lpstr>
      <vt:lpstr>Продвинутые практики </vt:lpstr>
      <vt:lpstr>Схема проекта</vt:lpstr>
      <vt:lpstr>PostgreSQL, MongoDB, EF Core</vt:lpstr>
      <vt:lpstr>Брокер сообщений RabbitMQ</vt:lpstr>
      <vt:lpstr>Брокер сообщений RabbitMQ</vt:lpstr>
      <vt:lpstr>Фронтенд: Blazor, React.js</vt:lpstr>
      <vt:lpstr>DevOps-инструменты</vt:lpstr>
      <vt:lpstr>Коммуникация: REST API, gRPC</vt:lpstr>
      <vt:lpstr>Коммуникация: REST API, gRPC</vt:lpstr>
      <vt:lpstr>Нестандартный DI через Autofac</vt:lpstr>
      <vt:lpstr>Валидация: FluentValidation</vt:lpstr>
      <vt:lpstr>Кастомный Middleware обработки</vt:lpstr>
      <vt:lpstr>Структурные логи и двухуровневый кэш </vt:lpstr>
      <vt:lpstr>Структурные логи и двухуровневый кэш </vt:lpstr>
      <vt:lpstr>Демонстрация проекта</vt:lpstr>
      <vt:lpstr>Выводы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Александра</dc:creator>
  <cp:lastModifiedBy>Александра Огурцова</cp:lastModifiedBy>
  <cp:revision>27</cp:revision>
  <dcterms:modified xsi:type="dcterms:W3CDTF">2026-09-08T13:26:37Z</dcterms:modified>
</cp:coreProperties>
</file>