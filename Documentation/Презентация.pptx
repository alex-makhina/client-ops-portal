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2" r:id="rId3"/>
    <p:sldMasterId id="2147483673" r:id="rId4"/>
  </p:sldMasterIdLst>
  <p:notesMasterIdLst>
    <p:notesMasterId r:id="rId6"/>
  </p:notesMasterIdLst>
  <p:sldIdLst>
    <p:sldId id="256" r:id="rId5"/>
    <p:sldId id="257" r:id="rId7"/>
    <p:sldId id="258" r:id="rId8"/>
    <p:sldId id="259" r:id="rId9"/>
    <p:sldId id="260" r:id="rId10"/>
    <p:sldId id="299" r:id="rId11"/>
    <p:sldId id="261" r:id="rId12"/>
    <p:sldId id="310" r:id="rId13"/>
    <p:sldId id="300" r:id="rId14"/>
    <p:sldId id="302" r:id="rId15"/>
    <p:sldId id="311" r:id="rId16"/>
    <p:sldId id="318" r:id="rId17"/>
    <p:sldId id="312" r:id="rId18"/>
    <p:sldId id="313" r:id="rId19"/>
    <p:sldId id="314" r:id="rId20"/>
    <p:sldId id="319" r:id="rId21"/>
    <p:sldId id="315" r:id="rId22"/>
    <p:sldId id="316" r:id="rId23"/>
    <p:sldId id="323" r:id="rId24"/>
    <p:sldId id="317" r:id="rId25"/>
    <p:sldId id="320" r:id="rId26"/>
    <p:sldId id="321" r:id="rId27"/>
    <p:sldId id="322" r:id="rId28"/>
    <p:sldId id="264" r:id="rId29"/>
    <p:sldId id="265" r:id="rId30"/>
    <p:sldId id="266" r:id="rId31"/>
  </p:sldIdLst>
  <p:sldSz cx="9144000" cy="5143500" type="screen16x9"/>
  <p:notesSz cx="6858000" cy="9144000"/>
  <p:embeddedFontLst>
    <p:embeddedFont>
      <p:font typeface="Roboto" panose="02000000000000000000"/>
      <p:regular r:id="rId35"/>
      <p:bold r:id="rId36"/>
      <p:italic r:id="rId37"/>
      <p:boldItalic r:id="rId38"/>
    </p:embeddedFont>
    <p:embeddedFont>
      <p:font typeface="Roboto Medium" panose="0200000000000000000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pos="5533" userDrawn="1">
          <p15:clr>
            <a:srgbClr val="A4A3A4"/>
          </p15:clr>
        </p15:guide>
        <p15:guide id="2" pos="397" userDrawn="1">
          <p15:clr>
            <a:srgbClr val="9AA0A6"/>
          </p15:clr>
        </p15:guide>
        <p15:guide id="3" orient="horz" pos="3240" userDrawn="1">
          <p15:clr>
            <a:srgbClr val="9AA0A6"/>
          </p15:clr>
        </p15:guide>
        <p15:guide id="4" orient="horz" pos="0" userDrawn="1">
          <p15:clr>
            <a:srgbClr val="747775"/>
          </p15:clr>
        </p15:guide>
        <p15:guide id="5" orient="horz" pos="51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F299A"/>
    <a:srgbClr val="594E87"/>
    <a:srgbClr val="6A59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E0AC4E8-839C-45C5-8BE5-4AC301C786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778" y="82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2" Type="http://schemas.openxmlformats.org/officeDocument/2006/relationships/font" Target="fonts/font8.fntdata"/><Relationship Id="rId41" Type="http://schemas.openxmlformats.org/officeDocument/2006/relationships/font" Target="fonts/font7.fntdata"/><Relationship Id="rId40" Type="http://schemas.openxmlformats.org/officeDocument/2006/relationships/font" Target="fonts/font6.fntdata"/><Relationship Id="rId4" Type="http://schemas.openxmlformats.org/officeDocument/2006/relationships/slideMaster" Target="slideMasters/slideMaster3.xml"/><Relationship Id="rId39" Type="http://schemas.openxmlformats.org/officeDocument/2006/relationships/font" Target="fonts/font5.fntdata"/><Relationship Id="rId38" Type="http://schemas.openxmlformats.org/officeDocument/2006/relationships/font" Target="fonts/font4.fntdata"/><Relationship Id="rId37" Type="http://schemas.openxmlformats.org/officeDocument/2006/relationships/font" Target="fonts/font3.fntdata"/><Relationship Id="rId36" Type="http://schemas.openxmlformats.org/officeDocument/2006/relationships/font" Target="fonts/font2.fntdata"/><Relationship Id="rId35" Type="http://schemas.openxmlformats.org/officeDocument/2006/relationships/font" Target="fonts/font1.fntdata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3ce85d903d_0_5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3ce85d903d_0_5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ТИТУЛЬНЫЙ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/>
          <a:srcRect l="100" r="100"/>
          <a:stretch>
            <a:fillRect/>
          </a:stretch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Белый слайд + заголовок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Тема вебинара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/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/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/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 panose="02070309020205020404"/>
              <a:buNone/>
              <a:defRPr sz="1100"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 panose="02070309020205020404"/>
              <a:buNone/>
              <a:defRPr sz="1100">
                <a:solidFill>
                  <a:schemeClr val="lt1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 panose="02070309020205020404"/>
              <a:buNone/>
              <a:defRPr sz="1300"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 panose="02070309020205020404"/>
              <a:buNone/>
              <a:defRPr sz="1300"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/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блок текст + картинка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pic>
        <p:nvPicPr>
          <p:cNvPr id="71" name="Google Shape;71;p17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Цитата, фон градиент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77" name="Google Shape;77;p19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EEEEE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Этап 1</a:t>
            </a:r>
            <a:endParaRPr sz="1500" b="1">
              <a:solidFill>
                <a:srgbClr val="EEEEEE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EEEEE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Этап 2</a:t>
            </a:r>
            <a:endParaRPr sz="1500" b="1">
              <a:solidFill>
                <a:srgbClr val="EEEEEE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EEEEE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Этап 3</a:t>
            </a:r>
            <a:endParaRPr sz="1500" b="1">
              <a:solidFill>
                <a:srgbClr val="EEEEEE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EEEEE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Этап 4</a:t>
            </a:r>
            <a:endParaRPr sz="1500" b="1">
              <a:solidFill>
                <a:srgbClr val="EEEEEE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Описание данных в виде набора сущностей, отношений между ними, атрибутов сущностей, </a:t>
            </a:r>
            <a:r>
              <a:rPr lang="en-US" sz="900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Описание данных в виде набора сущностей, отношений между ними, атрибутов сущностей, </a:t>
            </a:r>
            <a:r>
              <a:rPr lang="en-US" sz="900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Описание данных в виде набора сущностей, отношений между ними, атрибутов сущностей, </a:t>
            </a:r>
            <a:r>
              <a:rPr lang="en-US" sz="900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Описание данных в виде набора сущностей, отношений между ними, атрибутов сущностей, </a:t>
            </a:r>
            <a:r>
              <a:rPr lang="en-US" sz="900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8210400" cy="3000000"/>
        </p:xfrm>
        <a:graphic>
          <a:graphicData uri="http://schemas.openxmlformats.org/drawingml/2006/table">
            <a:tbl>
              <a:tblPr>
                <a:noFill/>
                <a:tableStyleId>{FE0AC4E8-839C-45C5-8BE5-4AC301C7866A}</a:tableStyleId>
              </a:tblPr>
              <a:tblGrid>
                <a:gridCol w="3800400"/>
                <a:gridCol w="4410000"/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7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1. Описание эксперимента</a:t>
                      </a:r>
                      <a:r>
                        <a:rPr lang="en-US" sz="1700" b="1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</a:t>
                      </a:r>
                      <a:endParaRPr lang="en-US" sz="1700" b="1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7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 panose="02000000000000000000"/>
                        <a:buChar char="●"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 panose="02000000000000000000"/>
                        <a:buChar char="●"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 panose="02000000000000000000"/>
                        <a:buChar char="●"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  Ожидаемый результат</a:t>
                      </a:r>
                      <a:endParaRPr lang="en-US"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 panose="02000000000000000000"/>
                        <a:buChar char="●"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 panose="02000000000000000000"/>
                        <a:buChar char="●"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 panose="02000000000000000000"/>
                        <a:buChar char="●"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ссылка на источник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7961150" cy="3000000"/>
        </p:xfrm>
        <a:graphic>
          <a:graphicData uri="http://schemas.openxmlformats.org/drawingml/2006/table">
            <a:tbl>
              <a:tblPr>
                <a:noFill/>
                <a:tableStyleId>{FE0AC4E8-839C-45C5-8BE5-4AC301C7866A}</a:tableStyleId>
              </a:tblPr>
              <a:tblGrid>
                <a:gridCol w="395875"/>
                <a:gridCol w="2403400"/>
                <a:gridCol w="2684725"/>
                <a:gridCol w="2477150"/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Текст нежирным шрифтом</a:t>
                      </a: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Текст нежирным шрифтом</a:t>
                      </a: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Поле для текста</a:t>
            </a:r>
            <a:endParaRPr lang="en-US" sz="110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Поле для текста</a:t>
            </a:r>
            <a:endParaRPr lang="en-US" sz="110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Важный тезис крупным шрифтом 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0.xml"/><Relationship Id="rId6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2" Type="http://schemas.openxmlformats.org/officeDocument/2006/relationships/theme" Target="../theme/theme2.xml"/><Relationship Id="rId11" Type="http://schemas.openxmlformats.org/officeDocument/2006/relationships/image" Target="../media/image3.png"/><Relationship Id="rId10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5" Type="http://schemas.openxmlformats.org/officeDocument/2006/relationships/theme" Target="../theme/theme3.xml"/><Relationship Id="rId4" Type="http://schemas.openxmlformats.org/officeDocument/2006/relationships/image" Target="../media/image3.png"/><Relationship Id="rId3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 panose="02000000000000000000"/>
              <a:buChar char="●"/>
              <a:defRPr sz="17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 panose="02000000000000000000"/>
              <a:buChar char="○"/>
              <a:defRPr sz="15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1"/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 panose="02000000000000000000"/>
              <a:buNone/>
              <a:defRPr sz="3000" b="1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 panose="02000000000000000000"/>
              <a:buChar char="●"/>
              <a:defRPr sz="17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 panose="02000000000000000000"/>
              <a:buChar char="○"/>
              <a:defRPr sz="15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/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 panose="02000000000000000000"/>
              <a:buChar char="●"/>
              <a:defRPr sz="17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 panose="02000000000000000000"/>
              <a:buChar char="○"/>
              <a:defRPr sz="15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5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1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5.xml"/><Relationship Id="rId3" Type="http://schemas.openxmlformats.org/officeDocument/2006/relationships/slideLayout" Target="../slideLayouts/slideLayout25.xml"/><Relationship Id="rId2" Type="http://schemas.openxmlformats.org/officeDocument/2006/relationships/image" Target="../media/image21.png"/><Relationship Id="rId1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2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1"/>
          <a:srcRect l="18598" r="18592"/>
          <a:stretch>
            <a:fillRect/>
          </a:stretch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Client Ops Portal</a:t>
            </a:r>
            <a:endParaRPr lang="ru-RU" sz="4500" b="1" dirty="0">
              <a:solidFill>
                <a:schemeClr val="lt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629700" y="4127375"/>
            <a:ext cx="2920500" cy="44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dirty="0">
                <a:solidFill>
                  <a:srgbClr val="FFFFFF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OTUS C# ASP.NET Core</a:t>
            </a:r>
            <a:endParaRPr sz="100" dirty="0">
              <a:latin typeface="Roboto Medium" panose="02000000000000000000"/>
              <a:ea typeface="Roboto Medium" panose="02000000000000000000"/>
              <a:cs typeface="Roboto Medium" panose="02000000000000000000"/>
              <a:sym typeface="Roboto Medium" panose="02000000000000000000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3000" dirty="0"/>
              <a:t>Защита проекта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3000" dirty="0"/>
              <a:t>Тема: </a:t>
            </a:r>
            <a:r>
              <a:rPr lang="en-US" altLang="ru-RU" sz="3000" dirty="0"/>
              <a:t>Client Ops Portal (CRM &amp; Service Provisioning System)</a:t>
            </a:r>
            <a:br>
              <a:rPr lang="en-US" sz="3000" dirty="0"/>
            </a:b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1" dirty="0">
                <a:solidFill>
                  <a:srgbClr val="3F299A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Огурцова Александра</a:t>
            </a:r>
            <a:endParaRPr sz="2300" b="1" dirty="0">
              <a:solidFill>
                <a:srgbClr val="3F299A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424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Место работы: Белтелеком.</a:t>
            </a:r>
            <a:endParaRPr sz="1300" dirty="0">
              <a:solidFill>
                <a:srgbClr val="000000"/>
              </a:solidFill>
              <a:latin typeface="Roboto Medium" panose="02000000000000000000"/>
              <a:ea typeface="Roboto Medium" panose="02000000000000000000"/>
              <a:cs typeface="Roboto Medium" panose="02000000000000000000"/>
              <a:sym typeface="Roboto Medium" panose="0200000000000000000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856" y="2023495"/>
            <a:ext cx="2430938" cy="243093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План защиты</a:t>
            </a:r>
            <a:endParaRPr lang="en-US"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Цель и задачи проекта</a:t>
            </a:r>
            <a:endParaRPr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Что получилось</a:t>
            </a:r>
            <a:endParaRPr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Выводы</a:t>
            </a:r>
            <a:endParaRPr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Вопросы и рекомендации</a:t>
            </a:r>
            <a:endParaRPr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03450"/>
            <a:ext cx="8520600" cy="732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Цел</a:t>
            </a:r>
            <a:r>
              <a:rPr lang="en-US" sz="3000" b="1" dirty="0"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ь и задачи</a:t>
            </a:r>
            <a:r>
              <a:rPr lang="en-US" sz="3000" b="1" dirty="0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проекта</a:t>
            </a:r>
            <a:endParaRPr sz="3000" b="1" dirty="0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graphicFrame>
        <p:nvGraphicFramePr>
          <p:cNvPr id="186" name="Google Shape;186;p39"/>
          <p:cNvGraphicFramePr/>
          <p:nvPr/>
        </p:nvGraphicFramePr>
        <p:xfrm>
          <a:off x="560499" y="2328863"/>
          <a:ext cx="7840549" cy="2150722"/>
        </p:xfrm>
        <a:graphic>
          <a:graphicData uri="http://schemas.openxmlformats.org/drawingml/2006/table">
            <a:tbl>
              <a:tblPr>
                <a:noFill/>
                <a:tableStyleId>{FE0AC4E8-839C-45C5-8BE5-4AC301C7866A}</a:tableStyleId>
              </a:tblPr>
              <a:tblGrid>
                <a:gridCol w="530095"/>
                <a:gridCol w="7310454"/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rgbClr val="594E87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1</a:t>
                      </a:r>
                      <a:r>
                        <a:rPr lang="en-US" sz="1600" b="1" dirty="0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.</a:t>
                      </a:r>
                      <a:endParaRPr sz="1600" b="1" dirty="0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Спроектировать и реализовать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микросервисную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архитектуру</a:t>
                      </a:r>
                      <a:endParaRPr dirty="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Организовать оптимальное хранение данных</a:t>
                      </a:r>
                      <a:endParaRPr dirty="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Настроить асинхронную и синхронную связь между сервисами</a:t>
                      </a:r>
                      <a:endParaRPr dirty="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Автоматизировать сборку, тесты и деплой (CI/CD)</a:t>
                      </a:r>
                      <a:endParaRPr dirty="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560499" y="1116975"/>
            <a:ext cx="784055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chemeClr val="dk1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Цель проекта: </a:t>
            </a:r>
            <a:r>
              <a:rPr lang="ru-RU" sz="1500" dirty="0">
                <a:solidFill>
                  <a:schemeClr val="dk1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создание </a:t>
            </a:r>
            <a:r>
              <a:rPr lang="en-US" sz="1500" dirty="0">
                <a:solidFill>
                  <a:schemeClr val="dk1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CRM-</a:t>
            </a:r>
            <a:r>
              <a:rPr lang="ru-RU" sz="1500" dirty="0">
                <a:solidFill>
                  <a:schemeClr val="dk1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системы для ведения подписок на телекоммуникационные услуги.</a:t>
            </a:r>
            <a:endParaRPr sz="1500" dirty="0">
              <a:latin typeface="Roboto Medium" panose="02000000000000000000"/>
              <a:ea typeface="Roboto Medium" panose="02000000000000000000"/>
              <a:cs typeface="Roboto Medium" panose="02000000000000000000"/>
              <a:sym typeface="Roboto Medium" panose="02000000000000000000"/>
            </a:endParaRPr>
          </a:p>
        </p:txBody>
      </p:sp>
      <p:sp>
        <p:nvSpPr>
          <p:cNvPr id="8" name="Google Shape;185;p39"/>
          <p:cNvSpPr txBox="1"/>
          <p:nvPr/>
        </p:nvSpPr>
        <p:spPr>
          <a:xfrm>
            <a:off x="560499" y="1927462"/>
            <a:ext cx="8520600" cy="479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594E87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Задачи проекта:</a:t>
            </a:r>
            <a:endParaRPr sz="1600" b="1" dirty="0">
              <a:solidFill>
                <a:srgbClr val="594E87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0"/>
          <p:cNvSpPr txBox="1">
            <a:spLocks noGrp="1"/>
          </p:cNvSpPr>
          <p:nvPr>
            <p:ph type="title"/>
          </p:nvPr>
        </p:nvSpPr>
        <p:spPr>
          <a:xfrm>
            <a:off x="611950" y="32650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Что планировалось</a:t>
            </a:r>
            <a:endParaRPr dirty="0"/>
          </a:p>
        </p:txBody>
      </p:sp>
      <p:sp>
        <p:nvSpPr>
          <p:cNvPr id="417" name="Google Shape;417;p60"/>
          <p:cNvSpPr txBox="1">
            <a:spLocks noGrp="1"/>
          </p:cNvSpPr>
          <p:nvPr>
            <p:ph type="title"/>
          </p:nvPr>
        </p:nvSpPr>
        <p:spPr>
          <a:xfrm>
            <a:off x="611949" y="1132600"/>
            <a:ext cx="7639082" cy="4146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dirty="0">
                <a:solidFill>
                  <a:srgbClr val="333333"/>
                </a:solidFill>
                <a:highlight>
                  <a:srgbClr val="FFFFFF"/>
                </a:highlight>
              </a:rPr>
              <a:t>Для визуализации функционала </a:t>
            </a:r>
            <a:r>
              <a:rPr lang="en-US" sz="1300" b="0" dirty="0">
                <a:solidFill>
                  <a:srgbClr val="333333"/>
                </a:solidFill>
                <a:highlight>
                  <a:srgbClr val="FFFFFF"/>
                </a:highlight>
              </a:rPr>
              <a:t>CRM-</a:t>
            </a:r>
            <a:r>
              <a:rPr lang="ru-RU" sz="1300" b="0" dirty="0">
                <a:solidFill>
                  <a:srgbClr val="333333"/>
                </a:solidFill>
                <a:highlight>
                  <a:srgbClr val="FFFFFF"/>
                </a:highlight>
              </a:rPr>
              <a:t>системы был разработан прототип</a:t>
            </a:r>
            <a:endParaRPr sz="1300" b="0" dirty="0">
              <a:solidFill>
                <a:srgbClr val="333333"/>
              </a:solidFill>
              <a:highlight>
                <a:srgbClr val="FFFFFF"/>
              </a:highlight>
            </a:endParaRPr>
          </a:p>
        </p:txBody>
      </p:sp>
      <p:sp>
        <p:nvSpPr>
          <p:cNvPr id="418" name="Google Shape;418;p60"/>
          <p:cNvSpPr txBox="1"/>
          <p:nvPr/>
        </p:nvSpPr>
        <p:spPr>
          <a:xfrm>
            <a:off x="611947" y="1547299"/>
            <a:ext cx="7639081" cy="35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lang="en-US" sz="1100" dirty="0">
                <a:solidFill>
                  <a:srgbClr val="013D85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13D85"/>
                </a:solidFill>
                <a:effectLst/>
                <a:uLnTx/>
                <a:uFillTx/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рототип: </a:t>
            </a:r>
            <a:r>
              <a:rPr kumimoji="0" lang="en-US" sz="1100" b="0" i="0" u="sng" strike="noStrike" kern="0" cap="none" spc="0" normalizeH="0" baseline="0" noProof="0" dirty="0">
                <a:ln>
                  <a:noFill/>
                </a:ln>
                <a:solidFill>
                  <a:srgbClr val="0097A7"/>
                </a:solidFill>
                <a:effectLst/>
                <a:uLnTx/>
                <a:uFillTx/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https://raw.githack.com/alex-makhina/client-ops-portal/CreatePrototype/Documentation/Prototype.html</a:t>
            </a:r>
            <a:endParaRPr kumimoji="0" sz="1100" b="0" i="0" u="none" strike="noStrike" kern="0" cap="none" spc="0" normalizeH="0" baseline="0" noProof="0" dirty="0">
              <a:ln>
                <a:noFill/>
              </a:ln>
              <a:solidFill>
                <a:srgbClr val="013D85"/>
              </a:solidFill>
              <a:effectLst/>
              <a:uLnTx/>
              <a:uFillTx/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7" name="Google Shape;418;p60"/>
          <p:cNvSpPr txBox="1"/>
          <p:nvPr/>
        </p:nvSpPr>
        <p:spPr>
          <a:xfrm>
            <a:off x="611946" y="2106409"/>
            <a:ext cx="7639081" cy="2385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13D85"/>
                </a:solidFill>
                <a:effectLst/>
                <a:uLnTx/>
                <a:uFillTx/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Первоначальная схема БД: </a:t>
            </a:r>
            <a:r>
              <a:rPr kumimoji="0" lang="en-US" sz="1100" b="0" i="0" u="sng" strike="noStrike" kern="0" cap="none" spc="0" normalizeH="0" baseline="0" noProof="0" dirty="0">
                <a:ln>
                  <a:noFill/>
                </a:ln>
                <a:solidFill>
                  <a:srgbClr val="0097A7"/>
                </a:solidFill>
                <a:effectLst/>
                <a:uLnTx/>
                <a:uFillTx/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https://mermaid.live/edit#pako:eNrVVkuP2jAQ_iuWpb2xCLo8ltxYHiqiXaGye6m4mHgSrCZ2ZDvVUuC_13kSSKJlS9ttcwDbM9_M-POMxztsCwrYwiDHjLiS-CuOzPesQO6SYfS5IaNoRtFiflxTWjLuosmLBsmJN6OJ6JD8Jb_DteDANXrFVLoWOUXTsosZNTaYw2yimeCPob82eiWtKZNKPxIfSpJPpEbwmVHqQaVoaNsi5DpxdpRSokEzH9BIghnSoS4hU8nDtgL1HNAaVCrJUIbFZDASXEtiv0ph5jxVP487hWTnMZ3nR3QS3wO4jI_NrEI24bRG8re4WIL8zmy4kIrKYx2DsiULojz677b_RCRznIVH-O9nAGzmEw8tpOG3ZDvjvViab-fseIzhOg_hwpshr4Lp_KLoUlGBsetif590L_D0kSkt5PZCuk4YLu4ceOibqy1af9oGcCZYaqJD9WYWDUzqf4-rpYbgF_jKmC7Rds5O1kNAKeJetfd8FxM_8MQW4Mp-aSJ1nPMO8Ee65EIoXXHDBCYhfNNn3jEhbm7QF_DiB4PasECdvkf2-9tbsTs2Vwut8IaoFT5tNKnaSTlFqozXaBZK5cxk7qrOpm0UCOM5oGCqDkLBYRyOURflFZgssyNoFMu3SmSmVW8gLqw0ZGWWFBLOZVEXI5DggFRIiwwaZ3ME2ov8nGKy1ZkGilXyWsl0cAO7klFsaRlCA_sgfRJNcVxMZssbMBmMU-JI6OnI7sHAAsK_CuFnSClCd4Mth3jKzMI4wdLHca4CnIIcRS9EbLU_xCawtcMv2Lprd5q9_n271et1e4N-v9Vp4K1Z7jQ7d_1uuz_otbrdXndwaOAfsdNW877fPfwEShWQ4A</a:t>
            </a:r>
            <a:endParaRPr kumimoji="0" sz="1100" b="0" i="0" u="none" strike="noStrike" kern="0" cap="none" spc="0" normalizeH="0" baseline="0" noProof="0" dirty="0">
              <a:ln>
                <a:noFill/>
              </a:ln>
              <a:solidFill>
                <a:srgbClr val="013D85"/>
              </a:solidFill>
              <a:effectLst/>
              <a:uLnTx/>
              <a:uFillTx/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7479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Используемые технологии</a:t>
            </a:r>
            <a:endParaRPr sz="3000" dirty="0">
              <a:solidFill>
                <a:srgbClr val="3F299A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199" name="Google Shape;199;p40"/>
          <p:cNvGraphicFramePr/>
          <p:nvPr/>
        </p:nvGraphicFramePr>
        <p:xfrm>
          <a:off x="500550" y="1219118"/>
          <a:ext cx="7285063" cy="2133450"/>
        </p:xfrm>
        <a:graphic>
          <a:graphicData uri="http://schemas.openxmlformats.org/drawingml/2006/table">
            <a:tbl>
              <a:tblPr>
                <a:noFill/>
                <a:tableStyleId>{FE0AC4E8-839C-45C5-8BE5-4AC301C7866A}</a:tableStyleId>
              </a:tblPr>
              <a:tblGrid>
                <a:gridCol w="535488"/>
                <a:gridCol w="6749575"/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Микросервисная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 архитектура</a:t>
                      </a:r>
                      <a:endParaRPr sz="1600" dirty="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PostgreSQL, MongoDB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, 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EF Core</a:t>
                      </a:r>
                      <a:endParaRPr sz="1600" dirty="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Брокер сообщений: 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RabbitMQ</a:t>
                      </a:r>
                      <a:endParaRPr sz="1600" dirty="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Фронтенд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: </a:t>
                      </a:r>
                      <a:r>
                        <a:rPr lang="en-US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Blazor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, React.js</a:t>
                      </a:r>
                      <a:endParaRPr lang="ru-RU" sz="1400" b="0" i="0" u="none" strike="noStrike" cap="none" spc="0" dirty="0">
                        <a:solidFill>
                          <a:srgbClr val="000000"/>
                        </a:solidFill>
                        <a:effectLst/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5.</a:t>
                      </a:r>
                      <a:endParaRPr sz="1600" b="1" dirty="0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Docker, GitHub Actions, Scalar, PostgreSQL </a:t>
                      </a:r>
                      <a:r>
                        <a:rPr lang="en-US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Adminer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, Mongo Express</a:t>
                      </a:r>
                      <a:endParaRPr lang="ru-RU" sz="1400" b="0" i="0" u="none" strike="noStrike" cap="none" spc="0" dirty="0">
                        <a:solidFill>
                          <a:srgbClr val="000000"/>
                        </a:solidFill>
                        <a:effectLst/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7479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Продвинутые практики</a:t>
            </a:r>
            <a:endParaRPr sz="3000" dirty="0">
              <a:solidFill>
                <a:srgbClr val="3F299A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199" name="Google Shape;199;p40"/>
          <p:cNvGraphicFramePr/>
          <p:nvPr/>
        </p:nvGraphicFramePr>
        <p:xfrm>
          <a:off x="500550" y="1219118"/>
          <a:ext cx="7285063" cy="2133450"/>
        </p:xfrm>
        <a:graphic>
          <a:graphicData uri="http://schemas.openxmlformats.org/drawingml/2006/table">
            <a:tbl>
              <a:tblPr>
                <a:noFill/>
                <a:tableStyleId>{FE0AC4E8-839C-45C5-8BE5-4AC301C7866A}</a:tableStyleId>
              </a:tblPr>
              <a:tblGrid>
                <a:gridCol w="535488"/>
                <a:gridCol w="6749575"/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1</a:t>
                      </a:r>
                      <a:r>
                        <a:rPr lang="en-US" sz="1600" b="1" dirty="0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.</a:t>
                      </a:r>
                      <a:endParaRPr sz="1600" b="1" dirty="0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Коммуникация: 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REST API, </a:t>
                      </a:r>
                      <a:r>
                        <a:rPr lang="en-US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gRPC</a:t>
                      </a:r>
                      <a:endParaRPr lang="ru-RU" sz="1400" b="0" i="0" u="none" strike="noStrike" cap="none" spc="0" dirty="0">
                        <a:solidFill>
                          <a:srgbClr val="000000"/>
                        </a:solidFill>
                        <a:effectLst/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2</a:t>
                      </a:r>
                      <a:r>
                        <a:rPr lang="en-US" sz="1600" b="1" dirty="0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.</a:t>
                      </a:r>
                      <a:endParaRPr sz="1600" b="1" dirty="0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Нестандартный 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DI 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через </a:t>
                      </a:r>
                      <a:r>
                        <a:rPr lang="en-US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Autofac</a:t>
                      </a:r>
                      <a:endParaRPr lang="ru-RU" sz="1400" b="0" i="0" u="none" strike="noStrike" cap="none" spc="0" dirty="0">
                        <a:solidFill>
                          <a:srgbClr val="000000"/>
                        </a:solidFill>
                        <a:effectLst/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endParaRPr>
                    </a:p>
                  </a:txBody>
                  <a:tcPr marL="198000" marR="91425" marT="91425" marB="91425">
                    <a:lnL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Валидация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: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 </a:t>
                      </a:r>
                      <a:r>
                        <a:rPr lang="en-US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FluentValidation</a:t>
                      </a:r>
                      <a:endParaRPr sz="1600" dirty="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Кастомный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 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Middleware 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обработки</a:t>
                      </a:r>
                      <a:endParaRPr lang="ru-RU" sz="1400" b="0" i="0" u="none" strike="noStrike" cap="none" spc="0" dirty="0">
                        <a:solidFill>
                          <a:srgbClr val="000000"/>
                        </a:solidFill>
                        <a:effectLst/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5.</a:t>
                      </a:r>
                      <a:endParaRPr sz="1600" b="1" dirty="0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Структурные </a:t>
                      </a:r>
                      <a:r>
                        <a:rPr lang="ru-RU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логи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 и двухуровневый кэш –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 </a:t>
                      </a:r>
                      <a:r>
                        <a:rPr lang="en-US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IMemoryCache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 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и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 panose="020B0604020202020204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 Redis</a:t>
                      </a:r>
                      <a:endParaRPr lang="ru-RU" sz="1400" b="0" i="0" u="none" strike="noStrike" cap="none" spc="0" dirty="0">
                        <a:solidFill>
                          <a:srgbClr val="000000"/>
                        </a:solidFill>
                        <a:effectLst/>
                        <a:latin typeface="Arial" panose="020B0604020202020204"/>
                        <a:ea typeface="Arial" panose="020B0604020202020204"/>
                        <a:cs typeface="Arial" panose="020B0604020202020204"/>
                        <a:sym typeface="Arial" panose="020B0604020202020204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>
                <a:solidFill>
                  <a:srgbClr val="3F299A"/>
                </a:solidFill>
              </a:rPr>
              <a:t>Схема проекта</a:t>
            </a:r>
            <a:endParaRPr dirty="0">
              <a:solidFill>
                <a:srgbClr val="3F299A"/>
              </a:solidFill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900" y="7144"/>
            <a:ext cx="8080794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29718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>
                <a:solidFill>
                  <a:srgbClr val="3F299A"/>
                </a:solidFill>
              </a:rPr>
              <a:t>PostgreSQL, MongoDB, EF Core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555350"/>
            <a:ext cx="6066600" cy="148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Реляционные данные - 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PostgreSQL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 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Документные данные - 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MongoDB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Единая 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ORM – Entity Framework Core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Database-per-service </a:t>
            </a: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паттерн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" name="Google Shape;395;p57"/>
          <p:cNvSpPr txBox="1"/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Базы данных и </a:t>
            </a:r>
            <a:r>
              <a:rPr lang="en-US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ORM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Брокер сообщений </a:t>
            </a:r>
            <a:r>
              <a:rPr lang="en-US" sz="3000" dirty="0">
                <a:solidFill>
                  <a:srgbClr val="3F299A"/>
                </a:solidFill>
              </a:rPr>
              <a:t>RabbitMQ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4" name="Google Shape;395;p57"/>
          <p:cNvSpPr txBox="1"/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Асинхронная коммуникация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736" y="1653096"/>
            <a:ext cx="7676233" cy="2918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Брокер сообщений </a:t>
            </a:r>
            <a:r>
              <a:rPr lang="en-US" sz="3000" dirty="0">
                <a:solidFill>
                  <a:srgbClr val="3F299A"/>
                </a:solidFill>
              </a:rPr>
              <a:t>RabbitMQ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653096"/>
            <a:ext cx="6066600" cy="220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Брокер 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RabbitMQ </a:t>
            </a: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в 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Docker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 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Паттерн: 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Publisher/Subscriber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События: создание клиента, отчёт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Гарантия доставки: 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durable queues.</a:t>
            </a:r>
            <a:endParaRPr lang="en-US"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Отвязка сервисов друг от друга.</a:t>
            </a:r>
            <a:endParaRPr lang="en-US"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" name="Google Shape;395;p57"/>
          <p:cNvSpPr txBox="1"/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Асинхронная коммуникация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 err="1">
                <a:solidFill>
                  <a:srgbClr val="3F299A"/>
                </a:solidFill>
              </a:rPr>
              <a:t>Фронтенд</a:t>
            </a:r>
            <a:r>
              <a:rPr lang="ru-RU" sz="3000" dirty="0">
                <a:solidFill>
                  <a:srgbClr val="3F299A"/>
                </a:solidFill>
              </a:rPr>
              <a:t>: </a:t>
            </a:r>
            <a:r>
              <a:rPr lang="en-US" sz="3000" dirty="0" err="1">
                <a:solidFill>
                  <a:srgbClr val="3F299A"/>
                </a:solidFill>
              </a:rPr>
              <a:t>Blazor</a:t>
            </a:r>
            <a:r>
              <a:rPr lang="en-US" sz="3000" dirty="0">
                <a:solidFill>
                  <a:srgbClr val="3F299A"/>
                </a:solidFill>
              </a:rPr>
              <a:t>, React.js</a:t>
            </a:r>
            <a:endParaRPr lang="en-US" sz="3000" dirty="0">
              <a:solidFill>
                <a:srgbClr val="3F299A"/>
              </a:solidFill>
            </a:endParaRPr>
          </a:p>
        </p:txBody>
      </p:sp>
      <p:graphicFrame>
        <p:nvGraphicFramePr>
          <p:cNvPr id="4" name="Google Shape;603;p75"/>
          <p:cNvGraphicFramePr/>
          <p:nvPr/>
        </p:nvGraphicFramePr>
        <p:xfrm>
          <a:off x="654862" y="1845831"/>
          <a:ext cx="7834275" cy="1967075"/>
        </p:xfrm>
        <a:graphic>
          <a:graphicData uri="http://schemas.openxmlformats.org/drawingml/2006/table">
            <a:tbl>
              <a:tblPr>
                <a:noFill/>
                <a:tableStyleId>{FE0AC4E8-839C-45C5-8BE5-4AC301C7866A}</a:tableStyleId>
              </a:tblPr>
              <a:tblGrid>
                <a:gridCol w="2269775"/>
                <a:gridCol w="2636825"/>
                <a:gridCol w="2927675"/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Параметр</a:t>
                      </a:r>
                      <a:endParaRPr sz="1600" b="1" dirty="0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Admin Portal</a:t>
                      </a:r>
                      <a:endParaRPr sz="1600" b="1" dirty="0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en-US" sz="1600" b="1" dirty="0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Personal </a:t>
                      </a:r>
                      <a:r>
                        <a:rPr lang="en-US" sz="1600" b="1" dirty="0" err="1">
                          <a:solidFill>
                            <a:srgbClr val="3F299A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Accaunt</a:t>
                      </a:r>
                      <a:endParaRPr sz="1600" b="1" dirty="0">
                        <a:solidFill>
                          <a:srgbClr val="3F299A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Технология</a:t>
                      </a:r>
                      <a:endParaRPr sz="1300" dirty="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en-US" sz="1300" dirty="0" err="1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Blazor</a:t>
                      </a: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</a:t>
                      </a:r>
                      <a:r>
                        <a:rPr lang="en-US" sz="1300" dirty="0" err="1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WebAssembly</a:t>
                      </a:r>
                      <a:endParaRPr sz="1300" dirty="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React.js + </a:t>
                      </a:r>
                      <a:r>
                        <a:rPr lang="en-US" sz="1300" dirty="0" err="1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Vite</a:t>
                      </a:r>
                      <a:endParaRPr sz="1300" dirty="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Аудитория</a:t>
                      </a:r>
                      <a:endParaRPr sz="1300" dirty="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Менеджеры компании</a:t>
                      </a:r>
                      <a:endParaRPr sz="1300" dirty="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Абоненты (клиенты)</a:t>
                      </a:r>
                      <a:endParaRPr sz="1300" dirty="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Функции</a:t>
                      </a:r>
                      <a:endParaRPr sz="1300" dirty="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CRM, </a:t>
                      </a:r>
                      <a:r>
                        <a:rPr lang="ru-RU" sz="1300" dirty="0"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отчёты, справочники</a:t>
                      </a:r>
                      <a:endParaRPr sz="1300" dirty="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История подписок, профиль</a:t>
                      </a:r>
                      <a:endParaRPr sz="1300" dirty="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5" name="Google Shape;395;p57"/>
          <p:cNvSpPr txBox="1"/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Два </a:t>
            </a:r>
            <a:r>
              <a:rPr lang="ru-RU" sz="16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фронтенд</a:t>
            </a:r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-приложения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>
                <a:solidFill>
                  <a:srgbClr val="3F299A"/>
                </a:solidFill>
              </a:rPr>
              <a:t>DevOps-</a:t>
            </a:r>
            <a:r>
              <a:rPr lang="ru-RU" sz="3000" dirty="0">
                <a:solidFill>
                  <a:srgbClr val="3F299A"/>
                </a:solidFill>
              </a:rPr>
              <a:t>инструменты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653096"/>
            <a:ext cx="6066600" cy="1847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Docker – </a:t>
            </a: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контейнеризация всех сервисов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 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GitHub Actions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Scalar – </a:t>
            </a: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современная документация 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API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en-US" sz="1300" dirty="0" err="1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Adminer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– </a:t>
            </a: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веб-интерфейс для 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PostgreSQL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lang="en-US"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Mongo Express – UI </a:t>
            </a: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для 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MongoDB.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" name="Google Shape;395;p57"/>
          <p:cNvSpPr txBox="1"/>
          <p:nvPr/>
        </p:nvSpPr>
        <p:spPr>
          <a:xfrm>
            <a:off x="638800" y="1012839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Инфраструктура и </a:t>
            </a:r>
            <a:r>
              <a:rPr lang="en-US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CI/CD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Коммуникация: </a:t>
            </a:r>
            <a:r>
              <a:rPr lang="en-US" sz="3000" dirty="0">
                <a:solidFill>
                  <a:srgbClr val="3F299A"/>
                </a:solidFill>
              </a:rPr>
              <a:t>REST API, </a:t>
            </a:r>
            <a:r>
              <a:rPr lang="en-US" sz="3000" dirty="0" err="1">
                <a:solidFill>
                  <a:srgbClr val="3F299A"/>
                </a:solidFill>
              </a:rPr>
              <a:t>gRPC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4" name="Google Shape;395;p57"/>
          <p:cNvSpPr txBox="1"/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Протоколы взаимодействия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1"/>
          <a:srcRect r="23203"/>
          <a:stretch>
            <a:fillRect/>
          </a:stretch>
        </p:blipFill>
        <p:spPr>
          <a:xfrm>
            <a:off x="478630" y="1593803"/>
            <a:ext cx="8311645" cy="212743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Коммуникация: </a:t>
            </a:r>
            <a:r>
              <a:rPr lang="en-US" sz="3000" dirty="0">
                <a:solidFill>
                  <a:srgbClr val="3F299A"/>
                </a:solidFill>
              </a:rPr>
              <a:t>REST API, </a:t>
            </a:r>
            <a:r>
              <a:rPr lang="en-US" sz="3000" dirty="0" err="1">
                <a:solidFill>
                  <a:srgbClr val="3F299A"/>
                </a:solidFill>
              </a:rPr>
              <a:t>gRPC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653096"/>
            <a:ext cx="6066600" cy="148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REST</a:t>
            </a: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– для клиентов через 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Gateway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 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en-US" sz="1300" dirty="0" err="1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gRPC</a:t>
            </a: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– между внутренними сервисами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en-US" sz="1300" dirty="0" err="1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Protobuf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для компактных сообщений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Сильная типизация контрактов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lang="en-US"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" name="Google Shape;395;p57"/>
          <p:cNvSpPr txBox="1"/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Протоколы взаимодействия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Нестандартный </a:t>
            </a:r>
            <a:r>
              <a:rPr lang="en-US" sz="3000" dirty="0">
                <a:solidFill>
                  <a:srgbClr val="3F299A"/>
                </a:solidFill>
              </a:rPr>
              <a:t>DI </a:t>
            </a:r>
            <a:r>
              <a:rPr lang="ru-RU" sz="3000" dirty="0">
                <a:solidFill>
                  <a:srgbClr val="3F299A"/>
                </a:solidFill>
              </a:rPr>
              <a:t>через </a:t>
            </a:r>
            <a:r>
              <a:rPr lang="en-US" sz="3000" dirty="0" err="1">
                <a:solidFill>
                  <a:srgbClr val="3F299A"/>
                </a:solidFill>
              </a:rPr>
              <a:t>Autofac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653096"/>
            <a:ext cx="6066600" cy="148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Замена стандартного контейнера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 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Паттерн Декоратор для </a:t>
            </a:r>
            <a:r>
              <a:rPr lang="en-US" sz="1300" dirty="0" err="1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ReportService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Упрощена регистрация </a:t>
            </a:r>
            <a:r>
              <a:rPr lang="en-US" sz="1300" dirty="0" err="1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MassTransit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Гибкость без изменения кода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lang="en-US"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" name="Google Shape;395;p57"/>
          <p:cNvSpPr txBox="1"/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r>
              <a:rPr lang="en-US" sz="16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Autofac</a:t>
            </a:r>
            <a:r>
              <a:rPr lang="en-US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+ Decorator Pattern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Валидация: </a:t>
            </a:r>
            <a:r>
              <a:rPr lang="en-US" sz="3000" dirty="0" err="1">
                <a:solidFill>
                  <a:srgbClr val="3F299A"/>
                </a:solidFill>
              </a:rPr>
              <a:t>FluentValidation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653096"/>
            <a:ext cx="6066600" cy="148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Отделена от бизнес-логики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 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Легко покрывается тестами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Читаемы правила валидации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Интеграция через </a:t>
            </a:r>
            <a:r>
              <a:rPr lang="en-US" sz="1300" dirty="0" err="1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MediatR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Pipeline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lang="en-US"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" name="Google Shape;395;p57"/>
          <p:cNvSpPr txBox="1"/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Валидация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 err="1">
                <a:solidFill>
                  <a:srgbClr val="3F299A"/>
                </a:solidFill>
              </a:rPr>
              <a:t>Кастомный</a:t>
            </a:r>
            <a:r>
              <a:rPr lang="ru-RU" sz="3000" dirty="0">
                <a:solidFill>
                  <a:srgbClr val="3F299A"/>
                </a:solidFill>
              </a:rPr>
              <a:t> </a:t>
            </a:r>
            <a:r>
              <a:rPr lang="en-US" sz="3000" dirty="0">
                <a:solidFill>
                  <a:srgbClr val="3F299A"/>
                </a:solidFill>
              </a:rPr>
              <a:t>Middleware </a:t>
            </a:r>
            <a:r>
              <a:rPr lang="ru-RU" sz="3000" dirty="0">
                <a:solidFill>
                  <a:srgbClr val="3F299A"/>
                </a:solidFill>
              </a:rPr>
              <a:t>обработки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253046"/>
            <a:ext cx="6066600" cy="148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Глобальная обработка исключений и ошибок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 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Добавление </a:t>
            </a:r>
            <a:r>
              <a:rPr lang="ru-RU" sz="1300" dirty="0" err="1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CorrelationId</a:t>
            </a: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к каждому запросу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Логирование </a:t>
            </a: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входящих запросов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Стандартизация ответов 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API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lang="en-US"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Структурные </a:t>
            </a:r>
            <a:r>
              <a:rPr lang="ru-RU" sz="3000" dirty="0" err="1">
                <a:solidFill>
                  <a:srgbClr val="3F299A"/>
                </a:solidFill>
              </a:rPr>
              <a:t>логи</a:t>
            </a:r>
            <a:r>
              <a:rPr lang="ru-RU" sz="3000" dirty="0">
                <a:solidFill>
                  <a:srgbClr val="3F299A"/>
                </a:solidFill>
              </a:rPr>
              <a:t> и двухуровневый кэш 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4" name="Google Shape;395;p57"/>
          <p:cNvSpPr txBox="1"/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r>
              <a:rPr lang="en-US" sz="16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IMemoryCache</a:t>
            </a:r>
            <a:r>
              <a:rPr lang="en-US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и </a:t>
            </a:r>
            <a:r>
              <a:rPr lang="en-US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Redis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1"/>
          <a:srcRect l="13281" t="19430" r="9435" b="13578"/>
          <a:stretch>
            <a:fillRect/>
          </a:stretch>
        </p:blipFill>
        <p:spPr>
          <a:xfrm>
            <a:off x="1125497" y="1422264"/>
            <a:ext cx="7066781" cy="341628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Структурные </a:t>
            </a:r>
            <a:r>
              <a:rPr lang="ru-RU" sz="3000" dirty="0" err="1">
                <a:solidFill>
                  <a:srgbClr val="3F299A"/>
                </a:solidFill>
              </a:rPr>
              <a:t>логи</a:t>
            </a:r>
            <a:r>
              <a:rPr lang="ru-RU" sz="3000" dirty="0">
                <a:solidFill>
                  <a:srgbClr val="3F299A"/>
                </a:solidFill>
              </a:rPr>
              <a:t> и двухуровневый кэш 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653096"/>
            <a:ext cx="6066600" cy="148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L1:</a:t>
            </a: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sz="1300" dirty="0" err="1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IMemoryCache</a:t>
            </a: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– быстрый 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in-progress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 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L2: Redis – </a:t>
            </a: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распределенный между сервисами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en-US" sz="1300" dirty="0" err="1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Serilog</a:t>
            </a: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с обогащением контекста</a:t>
            </a:r>
            <a:r>
              <a:rPr lang="en-US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en-US" sz="1300" dirty="0" err="1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CorrelationId</a:t>
            </a: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для трассировки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lang="en-US" sz="1300" dirty="0">
              <a:solidFill>
                <a:srgbClr val="333333"/>
              </a:solidFill>
              <a:highlight>
                <a:srgbClr val="FFFFFF"/>
              </a:highlight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" name="Google Shape;395;p57"/>
          <p:cNvSpPr txBox="1"/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 b="0" i="0" u="none" strike="noStrike" cap="none" spc="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r>
              <a:rPr lang="en-US" sz="16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IMemoryCache</a:t>
            </a:r>
            <a:r>
              <a:rPr lang="en-US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и </a:t>
            </a:r>
            <a:r>
              <a:rPr lang="en-US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Redis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en-US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Демонстрация проекта</a:t>
            </a:r>
            <a:endParaRPr lang="en-US" sz="3000" dirty="0">
              <a:solidFill>
                <a:srgbClr val="3F299A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Выводы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245903"/>
            <a:ext cx="6066600" cy="215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b="1" dirty="0">
                <a:solidFill>
                  <a:srgbClr val="3F299A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Цель достигнута</a:t>
            </a:r>
            <a:b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</a:b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Создана рабочая </a:t>
            </a:r>
            <a:r>
              <a:rPr lang="ru-RU" sz="1300" dirty="0" err="1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микросервисная</a:t>
            </a: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система из 6 сервисов, настроен CI/CD через </a:t>
            </a:r>
            <a:r>
              <a:rPr lang="ru-RU" sz="1300" dirty="0" err="1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GitHub</a:t>
            </a: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ru-RU" sz="1300" dirty="0" err="1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Actions</a:t>
            </a:r>
            <a:r>
              <a:rPr lang="ru-RU" sz="1300" dirty="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.</a:t>
            </a:r>
            <a:endParaRPr sz="1300" dirty="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 panose="02000000000000000000"/>
              <a:buChar char="●"/>
            </a:pPr>
            <a:r>
              <a:rPr lang="ru-RU" sz="1300" b="1" dirty="0">
                <a:solidFill>
                  <a:srgbClr val="3F299A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Ключевые результаты</a:t>
            </a:r>
            <a:br>
              <a:rPr lang="ru-RU" sz="1300" b="1" dirty="0">
                <a:solidFill>
                  <a:srgbClr val="3F299A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</a:br>
            <a:r>
              <a:rPr lang="ru-RU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Главное достижение — разнообразие коммуникаций: REST для внешних клиентов, </a:t>
            </a:r>
            <a:r>
              <a:rPr lang="ru-RU"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gRPC</a:t>
            </a:r>
            <a:r>
              <a:rPr lang="ru-RU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для внутренних вызовов, </a:t>
            </a:r>
            <a:r>
              <a:rPr lang="ru-RU"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RabbitMQ</a:t>
            </a:r>
            <a:r>
              <a:rPr lang="ru-RU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для асинхронных событий. Плюс двухуровневый кэш и структурное логирование с </a:t>
            </a:r>
            <a:r>
              <a:rPr lang="ru-RU"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CorrelationId</a:t>
            </a:r>
            <a:r>
              <a:rPr lang="ru-RU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для наблюдаемости</a:t>
            </a:r>
            <a:endParaRPr lang="ru-RU" sz="13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500">
                <a:solidFill>
                  <a:srgbClr val="FFFFFF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30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+</a:t>
            </a:r>
            <a:endParaRPr sz="4300">
              <a:solidFill>
                <a:schemeClr val="lt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30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– </a:t>
            </a:r>
            <a:endParaRPr sz="4300">
              <a:solidFill>
                <a:schemeClr val="lt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grpSp>
        <p:nvGrpSpPr>
          <p:cNvPr id="227" name="Google Shape;227;p43"/>
          <p:cNvGrpSpPr/>
          <p:nvPr/>
        </p:nvGrpSpPr>
        <p:grpSpPr>
          <a:xfrm>
            <a:off x="5573613" y="528650"/>
            <a:ext cx="3356305" cy="1236599"/>
            <a:chOff x="4729635" y="887067"/>
            <a:chExt cx="3375207" cy="1399343"/>
          </a:xfrm>
        </p:grpSpPr>
        <p:pic>
          <p:nvPicPr>
            <p:cNvPr id="228" name="Google Shape;228;p43"/>
            <p:cNvPicPr preferRelativeResize="0"/>
            <p:nvPr/>
          </p:nvPicPr>
          <p:blipFill>
            <a:blip r:embed="rId2"/>
            <a:stretch>
              <a:fillRect/>
            </a:stretch>
          </p:blipFill>
          <p:spPr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29" name="Google Shape;229;p43"/>
            <p:cNvSpPr txBox="1"/>
            <p:nvPr/>
          </p:nvSpPr>
          <p:spPr>
            <a:xfrm>
              <a:off x="5236901" y="1064135"/>
              <a:ext cx="2694600" cy="104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 panose="020B0604020202020204"/>
                <a:buNone/>
              </a:pPr>
              <a:r>
                <a:rPr lang="en-US" sz="1200">
                  <a:solidFill>
                    <a:schemeClr val="dk1"/>
                  </a:solidFill>
                  <a:latin typeface="Roboto" panose="02000000000000000000"/>
                  <a:ea typeface="Roboto" panose="02000000000000000000"/>
                  <a:cs typeface="Roboto" panose="02000000000000000000"/>
                  <a:sym typeface="Roboto" panose="02000000000000000000"/>
                </a:rPr>
                <a:t>Ответьте на вопросы одногруппников и преподавателей и получите обратную связь на свою работу</a:t>
              </a:r>
              <a:endParaRPr sz="11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4552</Words>
  <Application>WPS Presentation</Application>
  <PresentationFormat>Экран (16:9)</PresentationFormat>
  <Paragraphs>240</Paragraphs>
  <Slides>26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26</vt:i4>
      </vt:variant>
    </vt:vector>
  </HeadingPairs>
  <TitlesOfParts>
    <vt:vector size="38" baseType="lpstr">
      <vt:lpstr>Arial</vt:lpstr>
      <vt:lpstr>SimSun</vt:lpstr>
      <vt:lpstr>Wingdings</vt:lpstr>
      <vt:lpstr>Arial</vt:lpstr>
      <vt:lpstr>Roboto</vt:lpstr>
      <vt:lpstr>Courier New</vt:lpstr>
      <vt:lpstr>Roboto Medium</vt:lpstr>
      <vt:lpstr>Microsoft YaHei</vt:lpstr>
      <vt:lpstr>Arial Unicode MS</vt:lpstr>
      <vt:lpstr>Светлая тема</vt:lpstr>
      <vt:lpstr>Светлая тема</vt:lpstr>
      <vt:lpstr>Светлая тема</vt:lpstr>
      <vt:lpstr>PowerPoint 演示文稿</vt:lpstr>
      <vt:lpstr>&amp; слышно?</vt:lpstr>
      <vt:lpstr>Тема: CRM-система Client Ops Portal </vt:lpstr>
      <vt:lpstr>План защиты</vt:lpstr>
      <vt:lpstr>PowerPoint 演示文稿</vt:lpstr>
      <vt:lpstr>Для визуализации функционала CRM-системы был разработан прототип</vt:lpstr>
      <vt:lpstr>Используемые технологии</vt:lpstr>
      <vt:lpstr>Продвинутые практики</vt:lpstr>
      <vt:lpstr>Схема проекта</vt:lpstr>
      <vt:lpstr>PostgreSQL, MongoDB, EF Core</vt:lpstr>
      <vt:lpstr>Брокер сообщений RabbitMQ</vt:lpstr>
      <vt:lpstr>Брокер сообщений RabbitMQ</vt:lpstr>
      <vt:lpstr>Фронтенд: Blazor, React.js</vt:lpstr>
      <vt:lpstr>DevOps-инструменты</vt:lpstr>
      <vt:lpstr>Коммуникация: REST API, gRPC</vt:lpstr>
      <vt:lpstr>Коммуникация: REST API, gRPC</vt:lpstr>
      <vt:lpstr>Нестандартный DI через Autofac</vt:lpstr>
      <vt:lpstr>Валидация: FluentValidation</vt:lpstr>
      <vt:lpstr>Кастомный Middleware обработки</vt:lpstr>
      <vt:lpstr>Структурные логи и двухуровневый кэш </vt:lpstr>
      <vt:lpstr>Структурные логи и двухуровневый кэш </vt:lpstr>
      <vt:lpstr>Демонстрация проекта</vt:lpstr>
      <vt:lpstr>Выводы</vt:lpstr>
      <vt:lpstr>PowerPoint 演示文稿</vt:lpstr>
      <vt:lpstr>Спасибо за внимание!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Александра</dc:creator>
  <cp:lastModifiedBy>gordeichik</cp:lastModifiedBy>
  <cp:revision>25</cp:revision>
  <dcterms:created xsi:type="dcterms:W3CDTF">2026-09-08T06:40:25Z</dcterms:created>
  <dcterms:modified xsi:type="dcterms:W3CDTF">2026-09-08T06:42:34Z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D48DC80CF2D2408A9809ADD857C73A88_12</vt:lpwstr>
  </property>
  <property fmtid="{D5CDD505-2E9C-101B-9397-08002B2CF9AE}" pid="3" name="KSOProductBuildVer">
    <vt:lpwstr>1049-12.1.0.28485</vt:lpwstr>
  </property>
</Properties>
</file>